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9144000" cy="5143500" type="screen16x9"/>
  <p:notesSz cx="5143500" cy="9144000"/>
  <p:embeddedFontLst>
    <p:embeddedFont>
      <p:font typeface="Host Grotesk Medium" panose="020B0604020202020204" charset="0"/>
      <p:regular r:id="rId15"/>
    </p:embeddedFont>
    <p:embeddedFont>
      <p:font typeface="Roboto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3890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icture-Sque/bluestock-mf-capston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20" y="1290748"/>
            <a:ext cx="2925068" cy="255091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581175" y="1333239"/>
            <a:ext cx="3212157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BLUESTOCK DATA ANALYST INTERNSHIP · JUNE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20" y="1602543"/>
            <a:ext cx="714821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Bluestock Mutual Fund Analytics Platform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20" y="2258130"/>
            <a:ext cx="8151763" cy="913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end-to-end financial analytics solution — integrating data engineering, financial analytics, risk management, and business intelligence for the Indian mutual fund industry.</a:t>
            </a:r>
          </a:p>
          <a:p>
            <a:pPr marL="0" indent="0" algn="l">
              <a:lnSpc>
                <a:spcPct val="125000"/>
              </a:lnSpc>
              <a:buNone/>
            </a:pPr>
            <a:endParaRPr lang="en-US" sz="11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• Pandas • SQLite • SQL • Power BI</a:t>
            </a:r>
          </a:p>
        </p:txBody>
      </p:sp>
      <p:sp>
        <p:nvSpPr>
          <p:cNvPr id="6" name="Shape 4"/>
          <p:cNvSpPr/>
          <p:nvPr/>
        </p:nvSpPr>
        <p:spPr>
          <a:xfrm>
            <a:off x="496119" y="3302278"/>
            <a:ext cx="8151763" cy="10567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6120" y="3492411"/>
            <a:ext cx="860896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Krishnadas P S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B.Tech Computer Science &amp; Business Systems · Model Engineering College, Kochi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E2D35E-FF99-ECC4-7CD6-F4F139FBC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492" y="3962298"/>
            <a:ext cx="2179509" cy="11812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62769"/>
            <a:ext cx="1470720" cy="264616"/>
          </a:xfrm>
          <a:prstGeom prst="roundRect">
            <a:avLst>
              <a:gd name="adj" fmla="val 18001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1010022"/>
            <a:ext cx="1748284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&amp; OBJECTIVES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84089"/>
            <a:ext cx="696046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 Statement &amp; Project Objectives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394022" y="1939677"/>
            <a:ext cx="4107135" cy="2240979"/>
          </a:xfrm>
          <a:prstGeom prst="roundRect">
            <a:avLst>
              <a:gd name="adj" fmla="val 4555"/>
            </a:avLst>
          </a:prstGeom>
          <a:solidFill>
            <a:srgbClr val="FFE14D"/>
          </a:solidFill>
          <a:ln/>
        </p:spPr>
      </p:sp>
      <p:sp>
        <p:nvSpPr>
          <p:cNvPr id="6" name="Text 4"/>
          <p:cNvSpPr/>
          <p:nvPr/>
        </p:nvSpPr>
        <p:spPr>
          <a:xfrm>
            <a:off x="535781" y="208143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Challenge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2444651"/>
            <a:ext cx="3823618" cy="106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Mutual fund data is fragmented across sources, making it difficult to evaluate fund performance, assess risk, and compare schemes. Traditional reporting lacks integrated dashboards for risk-adjusted returns and industry-wide trend monitoring.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208143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Objectives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2444651"/>
            <a:ext cx="3902943" cy="1686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an automated ETL pipeline for mutual fund datasets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 structured SQLite analytical database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 performance &amp; risk metrics (CAGR, Sharpe, VaR, CVaR)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investor demographics and behavior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 an interactive Power BI dashboard for decision support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80EB89-75E5-0D42-466A-D0970F8C0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491" y="3962298"/>
            <a:ext cx="2179509" cy="11812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460325"/>
            <a:ext cx="1159446" cy="259259"/>
          </a:xfrm>
          <a:prstGeom prst="roundRect">
            <a:avLst>
              <a:gd name="adj" fmla="val 18086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858" y="506909"/>
            <a:ext cx="143968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FOUNDATION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8379" y="774502"/>
            <a:ext cx="507258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Sources &amp; Project Scale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88379" y="1416621"/>
            <a:ext cx="8167241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integrates </a:t>
            </a: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distinct datasets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covering fund performance, investor transactions, industry trends, and portfolio holdings.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88379" y="2056061"/>
            <a:ext cx="3997747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15083" y="2689324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8379" y="2989734"/>
            <a:ext cx="3997747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 master, NAV history, AUM, SIP inflows, transactions &amp; more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57799" y="2056061"/>
            <a:ext cx="3997821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784503" y="2689324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Fund Schemes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57799" y="2989734"/>
            <a:ext cx="3997821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multiple categories and fund houses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8379" y="3541812"/>
            <a:ext cx="3997747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46K+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615083" y="4175075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NAV Observations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8379" y="4475485"/>
            <a:ext cx="3997747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Historical Net Asset Value records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57799" y="3541812"/>
            <a:ext cx="3997821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32K+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784503" y="4175075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57799" y="4475485"/>
            <a:ext cx="3997821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Investor transaction records analyzed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FA08C11-21DC-A3B2-16D3-D4DF358AE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145" y="4484016"/>
            <a:ext cx="1216855" cy="659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5875" y="321841"/>
            <a:ext cx="814313" cy="162223"/>
          </a:xfrm>
          <a:prstGeom prst="roundRect">
            <a:avLst>
              <a:gd name="adj" fmla="val 19728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47788" y="355178"/>
            <a:ext cx="1147688" cy="95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ENGINEERING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285875" y="509662"/>
            <a:ext cx="315188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ETL Pipeline Architecture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962" y="903312"/>
            <a:ext cx="6518077" cy="2810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51537" y="3181054"/>
            <a:ext cx="1478744" cy="18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SQLite DB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751537" y="2530406"/>
            <a:ext cx="1478744" cy="18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Transform &amp; Validate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751537" y="1886331"/>
            <a:ext cx="1478744" cy="18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Ingest &amp; Clean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751537" y="1235683"/>
            <a:ext cx="1478744" cy="18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Raw Data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285875" y="3786039"/>
            <a:ext cx="7029450" cy="11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modular Python-based pipeline minimizes manual intervention while ensuring data consistency, reliability, and scalability across all 10 datasets.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285875" y="4041428"/>
            <a:ext cx="16478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Cleaning Steps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285875" y="4254252"/>
            <a:ext cx="3169965" cy="544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 standardization &amp; duplicate removal</a:t>
            </a:r>
            <a:endParaRPr lang="en-US" sz="75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NAV handling with forward-fill</a:t>
            </a:r>
            <a:endParaRPr lang="en-US" sz="75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KYC status &amp; amount validation</a:t>
            </a:r>
            <a:endParaRPr lang="en-US" sz="75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Expense ratio &amp; Sharpe anomaly checks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692923" y="4041428"/>
            <a:ext cx="16478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Database Loading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692923" y="4254252"/>
            <a:ext cx="3169965" cy="403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Star-schema inspired architecture</a:t>
            </a:r>
            <a:endParaRPr lang="en-US" sz="75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Dimension tables: dim_fund, dim_date</a:t>
            </a:r>
            <a:endParaRPr lang="en-US" sz="75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Fact tables: nav, transactions, performance, AUM, SIP</a:t>
            </a:r>
            <a:endParaRPr lang="en-US" sz="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523C05-44E3-BA11-A20D-6AFC71DE0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095" y="4365842"/>
            <a:ext cx="1434905" cy="7776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132" y="399604"/>
            <a:ext cx="1013073" cy="223465"/>
          </a:xfrm>
          <a:prstGeom prst="roundRect">
            <a:avLst>
              <a:gd name="adj" fmla="val 18652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3308" y="441573"/>
            <a:ext cx="1311920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DESIGN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4132" y="666452"/>
            <a:ext cx="429294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SQLite Analytical Database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4132" y="132524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Schema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4132" y="1627584"/>
            <a:ext cx="3986585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star-schema inspired design separates descriptive attributes from transactional records, enabling efficient aggregation and reporting.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132524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Benefits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1627584"/>
            <a:ext cx="3986585" cy="1023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data redundancy</a:t>
            </a:r>
            <a:endParaRPr lang="en-US" sz="9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 aggregation queries</a:t>
            </a:r>
            <a:endParaRPr lang="en-US" sz="9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analytical performance</a:t>
            </a:r>
            <a:endParaRPr lang="en-US" sz="9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Easier Power BI dashboard integration</a:t>
            </a:r>
            <a:endParaRPr lang="en-US" sz="9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 for future datasets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276001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Supported Queries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8046" y="3062362"/>
            <a:ext cx="3986585" cy="81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funds by AUM &amp; Sharpe Ratio</a:t>
            </a:r>
            <a:endParaRPr lang="en-US" sz="9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Category-wise inflows &amp; SIP growth</a:t>
            </a:r>
            <a:endParaRPr lang="en-US" sz="9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Investor demographic analysis</a:t>
            </a:r>
            <a:endParaRPr lang="en-US" sz="9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Benchmark comparison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132" y="4033912"/>
            <a:ext cx="4083621" cy="709910"/>
          </a:xfrm>
          <a:prstGeom prst="roundRect">
            <a:avLst>
              <a:gd name="adj" fmla="val 7339"/>
            </a:avLst>
          </a:prstGeom>
          <a:solidFill>
            <a:srgbClr val="FAF9F5"/>
          </a:solidFill>
          <a:ln w="14288">
            <a:solidFill>
              <a:srgbClr val="BFD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2393" y="417217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Dimension Tables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2393" y="4431134"/>
            <a:ext cx="3807098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dim_fund · dim_date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248" y="4033912"/>
            <a:ext cx="4083621" cy="709910"/>
          </a:xfrm>
          <a:prstGeom prst="roundRect">
            <a:avLst>
              <a:gd name="adj" fmla="val 7339"/>
            </a:avLst>
          </a:prstGeom>
          <a:solidFill>
            <a:srgbClr val="FAF9F5"/>
          </a:solidFill>
          <a:ln w="14288">
            <a:solidFill>
              <a:srgbClr val="BFD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509" y="417217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Fact Tables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4509" y="4431134"/>
            <a:ext cx="3807098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fact_nav · fact_transactions · fact_performance · fact_aum · fact_sip</a:t>
            </a:r>
            <a:endParaRPr lang="en-US" sz="9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3DCA00-E04A-F71E-E3B9-B1E4E5352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975" y="4799182"/>
            <a:ext cx="1252024" cy="3443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9113"/>
            <a:ext cx="1476152" cy="264616"/>
          </a:xfrm>
          <a:prstGeom prst="roundRect">
            <a:avLst>
              <a:gd name="adj" fmla="val 18001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566365"/>
            <a:ext cx="1753716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EXPLORATORY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40432"/>
            <a:ext cx="690123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EDA: Industry Trends &amp; Investor Insights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749701" y="1637779"/>
            <a:ext cx="24671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AUM Growth (₹ Lakh Cr)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000994"/>
            <a:ext cx="3902943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SBI Mutual Fund recorded the highest AUM growth during the analysis period, reaching </a:t>
            </a: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₹12.5 Lakh Cr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2025. Industry-wide AUM expanded consistently across all fund houses.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2780556"/>
            <a:ext cx="23251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Investor Demographics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9701" y="3143771"/>
            <a:ext cx="3902943" cy="1211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26–35 age group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dominates at 41.1% of investors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36–45 contributes 24.9%; 18–25 adds 15%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Madhya Pradesh, Punjab &amp; Telangana lead state-wise SIP investment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SIP inflows reached an all-time high of </a:t>
            </a: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₹13,302 Cr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C48E4D-4125-1EA8-974E-5C69C219F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499264"/>
            <a:ext cx="1188720" cy="6442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926287-7E64-187A-E7B5-D034118E9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30" y="1433437"/>
            <a:ext cx="4185138" cy="29156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610" y="409129"/>
            <a:ext cx="1454125" cy="233363"/>
          </a:xfrm>
          <a:prstGeom prst="roundRect">
            <a:avLst>
              <a:gd name="adj" fmla="val 18498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391" y="452363"/>
            <a:ext cx="1747763" cy="146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ANALYTICS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610" y="689000"/>
            <a:ext cx="456307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Performance &amp; Risk Metrics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91" y="1541412"/>
            <a:ext cx="3965674" cy="28544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33479" y="1381423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Performance Metrics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33479" y="1698501"/>
            <a:ext cx="3965674" cy="632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Daily Returns · 1-Year &amp; 3-Year CAGR</a:t>
            </a:r>
            <a:endParaRPr lang="en-US" sz="100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Benchmark Returns vs NIFTY50 &amp; NIFTY100</a:t>
            </a:r>
            <a:endParaRPr lang="en-US" sz="100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 Scorecard Ranking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33479" y="2447479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 Metrics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33479" y="2764557"/>
            <a:ext cx="3965674" cy="408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Sharpe Ratio · Sortino Ratio</a:t>
            </a:r>
            <a:endParaRPr lang="en-US" sz="100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Alpha · Beta · Maximum Drawdown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33479" y="3289102"/>
            <a:ext cx="225065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Fund Scorecard Weights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733479" y="3606180"/>
            <a:ext cx="3965674" cy="367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Returns 30% · Sharpe 25% · Alpha 20% · Expense Ratio 15% · Drawdown 10%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33479" y="4078412"/>
            <a:ext cx="3965674" cy="55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Several funds generated strong </a:t>
            </a: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risk-adjusted returns</a:t>
            </a: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despite moderate absolute returns — underscoring the value of composite evaluation.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751BA2-92C8-B047-6A24-658D939D0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077" y="4476392"/>
            <a:ext cx="1230923" cy="6671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73894"/>
            <a:ext cx="1376214" cy="264616"/>
          </a:xfrm>
          <a:prstGeom prst="roundRect">
            <a:avLst>
              <a:gd name="adj" fmla="val 18001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721147"/>
            <a:ext cx="1653778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95214"/>
            <a:ext cx="641687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Advanced Analytics &amp; Risk Modeling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50802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7658" y="16508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Value at Risk (VaR)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27658" y="1957313"/>
            <a:ext cx="2067595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Historical VaR calculated at 95% confidence level to estimate maximum expected loss over a given period.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650802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03972" y="1650802"/>
            <a:ext cx="19096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Conditional VaR (CVaR)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803972" y="1957313"/>
            <a:ext cx="2067595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Estimates expected losses beyond the VaR threshold, providing a comprehensive view of tail risk exposure.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650802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80287" y="16508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Cohort Analysis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580287" y="1957313"/>
            <a:ext cx="2067595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Investor cohorts analyzed by transaction timing to identify participation and retention trends across segments.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91235"/>
            <a:ext cx="354360" cy="354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7658" y="3091235"/>
            <a:ext cx="20675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Fund Recommendation Engine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027658" y="3619202"/>
            <a:ext cx="2067595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Classifies and recommends funds based on performance characteristics and investor risk preferences.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091235"/>
            <a:ext cx="354360" cy="3543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803972" y="3091235"/>
            <a:ext cx="20675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Sector Concentration (HHI)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3803972" y="3619202"/>
            <a:ext cx="2067595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Herfindahl-Hirschman Index measures portfolio concentration and diversification levels across fund holdings.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4EC8FCC-7706-0073-F7E0-0F0F051F76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4491" y="3962298"/>
            <a:ext cx="2179509" cy="11812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33842"/>
            <a:ext cx="840507" cy="264616"/>
          </a:xfrm>
          <a:prstGeom prst="roundRect">
            <a:avLst>
              <a:gd name="adj" fmla="val 18001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381095"/>
            <a:ext cx="1118071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1356" y="618673"/>
            <a:ext cx="550932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Interactive Power BI Dashboard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015001"/>
            <a:ext cx="86089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four-page dashboard transforms analytical outputs into business-friendly visualizations with interactive filters.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Tools used: Python, Pandas, SQLite, SQL, Power BI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1356" y="1478806"/>
            <a:ext cx="4004965" cy="3330851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640" y="1624509"/>
            <a:ext cx="23011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Page 1 — Industry Overview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2640" y="1931020"/>
            <a:ext cx="3711922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Industry KPIs, AUM trends, SIP growth, fund house comparisons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1" y="1478807"/>
            <a:ext cx="4005039" cy="3330850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9363" y="1624509"/>
            <a:ext cx="23200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Page 2 — Fund Performance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89363" y="1931020"/>
            <a:ext cx="3711997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 scorecards, risk-return analysis, CAGR metrics, benchmark comparisons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567409-0226-D3B6-3934-D8D919513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332" y="4855337"/>
            <a:ext cx="1385668" cy="2881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C271928-DB47-BC35-32AE-BD2ACA6D9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40" y="2475712"/>
            <a:ext cx="3711921" cy="218069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5A74745-F3DA-9797-6D2E-DDE439FFB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363" y="2475504"/>
            <a:ext cx="3711997" cy="21809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">
            <a:extLst>
              <a:ext uri="{FF2B5EF4-FFF2-40B4-BE49-F238E27FC236}">
                <a16:creationId xmlns:a16="http://schemas.microsoft.com/office/drawing/2014/main" id="{24A03A75-D5E8-741E-60CB-6ED9003BA7A5}"/>
              </a:ext>
            </a:extLst>
          </p:cNvPr>
          <p:cNvSpPr/>
          <p:nvPr/>
        </p:nvSpPr>
        <p:spPr>
          <a:xfrm>
            <a:off x="496119" y="435159"/>
            <a:ext cx="4004965" cy="4126660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3" name="Text 11">
            <a:extLst>
              <a:ext uri="{FF2B5EF4-FFF2-40B4-BE49-F238E27FC236}">
                <a16:creationId xmlns:a16="http://schemas.microsoft.com/office/drawing/2014/main" id="{AE35950C-391A-78DD-32B9-9FA49EE12916}"/>
              </a:ext>
            </a:extLst>
          </p:cNvPr>
          <p:cNvSpPr/>
          <p:nvPr/>
        </p:nvSpPr>
        <p:spPr>
          <a:xfrm>
            <a:off x="642640" y="581681"/>
            <a:ext cx="22648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Page 3 — Investor Analytics</a:t>
            </a:r>
            <a:endParaRPr lang="en-US" sz="1350" dirty="0"/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CC22FB2E-7A36-E12A-D875-9B11252946AA}"/>
              </a:ext>
            </a:extLst>
          </p:cNvPr>
          <p:cNvSpPr/>
          <p:nvPr/>
        </p:nvSpPr>
        <p:spPr>
          <a:xfrm>
            <a:off x="642640" y="888192"/>
            <a:ext cx="3711922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Demographics, geographic participation, transaction patterns, investment behavior</a:t>
            </a:r>
            <a:endParaRPr lang="en-US" sz="1100" dirty="0"/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B5A1BC5B-5E94-3083-25CA-A2A114F33595}"/>
              </a:ext>
            </a:extLst>
          </p:cNvPr>
          <p:cNvSpPr/>
          <p:nvPr/>
        </p:nvSpPr>
        <p:spPr>
          <a:xfrm>
            <a:off x="4647605" y="435159"/>
            <a:ext cx="4005039" cy="4126660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6" name="Text 14">
            <a:extLst>
              <a:ext uri="{FF2B5EF4-FFF2-40B4-BE49-F238E27FC236}">
                <a16:creationId xmlns:a16="http://schemas.microsoft.com/office/drawing/2014/main" id="{EA057C23-38E1-F266-A0AA-1A8248278AA5}"/>
              </a:ext>
            </a:extLst>
          </p:cNvPr>
          <p:cNvSpPr/>
          <p:nvPr/>
        </p:nvSpPr>
        <p:spPr>
          <a:xfrm>
            <a:off x="4794126" y="581681"/>
            <a:ext cx="24802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Page 4 — SIP &amp; Market Trends</a:t>
            </a:r>
            <a:endParaRPr lang="en-US" sz="1350" dirty="0"/>
          </a:p>
        </p:txBody>
      </p:sp>
      <p:sp>
        <p:nvSpPr>
          <p:cNvPr id="7" name="Text 15">
            <a:extLst>
              <a:ext uri="{FF2B5EF4-FFF2-40B4-BE49-F238E27FC236}">
                <a16:creationId xmlns:a16="http://schemas.microsoft.com/office/drawing/2014/main" id="{DEBF1808-53E6-B7A6-1C83-B9BDBF608E95}"/>
              </a:ext>
            </a:extLst>
          </p:cNvPr>
          <p:cNvSpPr/>
          <p:nvPr/>
        </p:nvSpPr>
        <p:spPr>
          <a:xfrm>
            <a:off x="4794126" y="888192"/>
            <a:ext cx="3711997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SIP growth tracking, category inflows, market participation trends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1ADD2C-2AD0-5BB1-8FF2-AAE396F1B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41" y="1477108"/>
            <a:ext cx="3711922" cy="27781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FD96B0-3693-E0DE-8614-BC508E35D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668" y="1477108"/>
            <a:ext cx="3774911" cy="27781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3A65A4-4D4C-61C0-9708-48341218A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332" y="4855337"/>
            <a:ext cx="1385668" cy="28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454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54459"/>
            <a:ext cx="1501453" cy="264616"/>
          </a:xfrm>
          <a:prstGeom prst="roundRect">
            <a:avLst>
              <a:gd name="adj" fmla="val 18001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601712"/>
            <a:ext cx="1779017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INSIGHTS &amp; CONCLUSION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75779"/>
            <a:ext cx="79675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Findings, Recommendations &amp; Conclusion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67312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036341"/>
            <a:ext cx="3902943" cy="999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AUM growth; SIP inflows reached all-time high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26–35 age group leads investor participation (41.1%)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risk-adjusted returns in select schemes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Correlation analysis revealed diversification opportunities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17718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540398"/>
            <a:ext cx="3902943" cy="999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funds using both return &amp; risk metrics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Encourage SIP investing for long-term wealth creation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younger segments &amp; B30 geographic expansion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VaR/CVaR into investor decision frameworks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7605" y="1531367"/>
            <a:ext cx="4107135" cy="3057674"/>
          </a:xfrm>
          <a:prstGeom prst="roundRect">
            <a:avLst>
              <a:gd name="adj" fmla="val 3338"/>
            </a:avLst>
          </a:prstGeom>
          <a:solidFill>
            <a:srgbClr val="FFE14D"/>
          </a:solidFill>
          <a:ln/>
        </p:spPr>
      </p:sp>
      <p:sp>
        <p:nvSpPr>
          <p:cNvPr id="10" name="Text 8"/>
          <p:cNvSpPr/>
          <p:nvPr/>
        </p:nvSpPr>
        <p:spPr>
          <a:xfrm>
            <a:off x="4789363" y="167312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89363" y="2036341"/>
            <a:ext cx="3823618" cy="1488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Bluestock Mutual Fund Analytics Platform successfully integrates </a:t>
            </a: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engineering, financial analytics, risk management, and business intelligence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into a single solution — transforming raw datasets into actionable investment insights through ETL pipelines, a structured database, advanced risk metrics, and an interactive Power BI dashboard.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1E3FC5-1645-0729-29F2-5C53DC735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994" y="4640308"/>
            <a:ext cx="1456006" cy="5031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2C9AFB-46DD-783C-E76A-23FDFDAD1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332" y="4855337"/>
            <a:ext cx="1385668" cy="288164"/>
          </a:xfrm>
          <a:prstGeom prst="rect">
            <a:avLst/>
          </a:prstGeom>
        </p:spPr>
      </p:pic>
      <p:sp>
        <p:nvSpPr>
          <p:cNvPr id="5" name="Shape 10">
            <a:extLst>
              <a:ext uri="{FF2B5EF4-FFF2-40B4-BE49-F238E27FC236}">
                <a16:creationId xmlns:a16="http://schemas.microsoft.com/office/drawing/2014/main" id="{B60166E1-0986-2005-ECEA-2594E2068709}"/>
              </a:ext>
            </a:extLst>
          </p:cNvPr>
          <p:cNvSpPr/>
          <p:nvPr/>
        </p:nvSpPr>
        <p:spPr>
          <a:xfrm>
            <a:off x="508311" y="508420"/>
            <a:ext cx="8127376" cy="4126660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166DDB-5E9C-88D0-D492-1AD323AA7476}"/>
              </a:ext>
            </a:extLst>
          </p:cNvPr>
          <p:cNvSpPr txBox="1"/>
          <p:nvPr/>
        </p:nvSpPr>
        <p:spPr>
          <a:xfrm>
            <a:off x="2959490" y="1554291"/>
            <a:ext cx="32250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2E3C4E"/>
                </a:solidFill>
                <a:latin typeface="Host Grotesk Medium" pitchFamily="34" charset="0"/>
              </a:rPr>
              <a:t>Thank You</a:t>
            </a:r>
            <a:endParaRPr lang="en-IN" sz="4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19A816-4610-ECF4-6FCD-526457BF8180}"/>
              </a:ext>
            </a:extLst>
          </p:cNvPr>
          <p:cNvSpPr txBox="1"/>
          <p:nvPr/>
        </p:nvSpPr>
        <p:spPr>
          <a:xfrm>
            <a:off x="1639799" y="2385288"/>
            <a:ext cx="5864400" cy="152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4000"/>
              </a:lnSpc>
            </a:pPr>
            <a:r>
              <a:rPr lang="en-US" dirty="0"/>
              <a:t>GitHub Repository:</a:t>
            </a:r>
          </a:p>
          <a:p>
            <a:pPr algn="ctr">
              <a:lnSpc>
                <a:spcPct val="104000"/>
              </a:lnSpc>
            </a:pPr>
            <a:r>
              <a:rPr lang="en-US" dirty="0">
                <a:hlinkClick r:id="rId3"/>
              </a:rPr>
              <a:t>https://github.com/Picture-Sque/bluestock-mf-capstone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Prepared by:</a:t>
            </a:r>
          </a:p>
          <a:p>
            <a:pPr algn="ctr">
              <a:lnSpc>
                <a:spcPct val="104000"/>
              </a:lnSpc>
            </a:pPr>
            <a:r>
              <a:rPr lang="en-US" dirty="0"/>
              <a:t>Krishnadas P 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44946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922</Words>
  <Application>Microsoft Office PowerPoint</Application>
  <PresentationFormat>On-screen Show (16:9)</PresentationFormat>
  <Paragraphs>139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Roboto</vt:lpstr>
      <vt:lpstr>Arial</vt:lpstr>
      <vt:lpstr>Host Grotesk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Krishnadas P S</dc:creator>
  <cp:lastModifiedBy>Krishnadas P S</cp:lastModifiedBy>
  <cp:revision>3</cp:revision>
  <dcterms:created xsi:type="dcterms:W3CDTF">2026-06-09T18:22:47Z</dcterms:created>
  <dcterms:modified xsi:type="dcterms:W3CDTF">2026-06-09T18:50:21Z</dcterms:modified>
</cp:coreProperties>
</file>